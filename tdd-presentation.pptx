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39150" y="2381250"/>
            <a:ext cx="2247900" cy="2247900"/>
          </a:xfrm>
          <a:prstGeom prst="ellipse">
            <a:avLst/>
          </a:prstGeom>
          <a:noFill/>
          <a:ln w="19050">
            <a:solidFill>
              <a:srgbClr val="D5D2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77375" y="2295525"/>
            <a:ext cx="171450" cy="171450"/>
          </a:xfrm>
          <a:prstGeom prst="ellipse">
            <a:avLst/>
          </a:prstGeom>
          <a:solidFill>
            <a:srgbClr val="D5D2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48925" y="3981450"/>
            <a:ext cx="171450" cy="171450"/>
          </a:xfrm>
          <a:prstGeom prst="ellipse">
            <a:avLst/>
          </a:prstGeom>
          <a:solidFill>
            <a:srgbClr val="D5D2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5825" y="3981450"/>
            <a:ext cx="171450" cy="171450"/>
          </a:xfrm>
          <a:prstGeom prst="ellipse">
            <a:avLst/>
          </a:prstGeom>
          <a:solidFill>
            <a:srgbClr val="D5D2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209800"/>
            <a:ext cx="666750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191917"/>
                </a:solidFill>
                <a:latin typeface="Georgia"/>
              </a:rPr>
              <a:t>Test-Driven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191917"/>
                </a:solidFill>
                <a:latin typeface="Georgia"/>
              </a:rPr>
              <a:t>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3053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5750"/>
                </a:solidFill>
                <a:latin typeface="Segoe UI"/>
              </a:rPr>
              <a:t>Unit 8.2 · Software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76300" y="5867400"/>
            <a:ext cx="10439400" cy="9525"/>
          </a:xfrm>
          <a:prstGeom prst="rect">
            <a:avLst/>
          </a:prstGeom>
          <a:solidFill>
            <a:srgbClr val="DC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6057900"/>
            <a:ext cx="5334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Software Engineering · CSC364 · Semester 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700" y="6057900"/>
            <a:ext cx="533400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Sommerville, Software Engineering, 10th 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9900"/>
            <a:ext cx="12192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1809750"/>
            <a:ext cx="8572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91917"/>
                </a:solidFill>
                <a:latin typeface="Georgia"/>
              </a:rPr>
              <a:t>Write the test first.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91917"/>
                </a:solidFill>
                <a:latin typeface="Georgia"/>
              </a:rPr>
              <a:t>Then write the code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91917"/>
                </a:solidFill>
                <a:latin typeface="Georgia"/>
              </a:rPr>
              <a:t>that passes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4305300"/>
            <a:ext cx="6096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5750"/>
                </a:solidFill>
                <a:latin typeface="Segoe UI"/>
              </a:rPr>
              <a:t>That is the whole idea. Testing is not a step at the end. The test and the code grow together, a few lines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9900"/>
            <a:ext cx="24384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The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17335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8452C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7165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Pick one small piece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38349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Something you can write in a few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6098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8452C"/>
                </a:solidFill>
                <a:latin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795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Write a test for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1465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An automatic test, run by a tool, not by hand.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4861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8452C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425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Run the test and watch it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0949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The code is not written yet, so it must fail.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3624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8452C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0055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Write just enough code to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725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Nothing extra. Only what the test asks for.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52387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8452C"/>
                </a:solidFill>
                <a:latin typeface="Georg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7685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Run every test again, then take the next piece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4355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Old tests must still pass before you move on.</a:t>
            </a:r>
          </a:p>
        </p:txBody>
      </p:sp>
      <p:sp>
        <p:nvSpPr>
          <p:cNvPr id="18" name="Oval 17"/>
          <p:cNvSpPr/>
          <p:nvPr/>
        </p:nvSpPr>
        <p:spPr>
          <a:xfrm>
            <a:off x="8305800" y="2686050"/>
            <a:ext cx="2247900" cy="2247900"/>
          </a:xfrm>
          <a:prstGeom prst="ellipse">
            <a:avLst/>
          </a:prstGeom>
          <a:noFill/>
          <a:ln w="15240">
            <a:solidFill>
              <a:srgbClr val="8B86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44025" y="2600325"/>
            <a:ext cx="171450" cy="171450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17365" y="4286250"/>
            <a:ext cx="171450" cy="171450"/>
          </a:xfrm>
          <a:prstGeom prst="ellipse">
            <a:avLst/>
          </a:prstGeom>
          <a:solidFill>
            <a:srgbClr val="1919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70684" y="4286250"/>
            <a:ext cx="171450" cy="171450"/>
          </a:xfrm>
          <a:prstGeom prst="ellipse">
            <a:avLst/>
          </a:prstGeom>
          <a:solidFill>
            <a:srgbClr val="1919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500" y="22098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8452C"/>
                </a:solidFill>
                <a:latin typeface="Georgia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9690" y="425767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917"/>
                </a:solidFill>
                <a:latin typeface="Georgia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5209" y="425767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917"/>
                </a:solidFill>
                <a:latin typeface="Georgia"/>
              </a:rPr>
              <a:t>Refactor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35052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one small step,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0" y="3733799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then around again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3 /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19900"/>
            <a:ext cx="36576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Three words to remember it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1885950"/>
            <a:ext cx="3155950" cy="19050"/>
          </a:xfrm>
          <a:prstGeom prst="rect">
            <a:avLst/>
          </a:prstGeom>
          <a:solidFill>
            <a:srgbClr val="1919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2171700"/>
            <a:ext cx="309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A8452C"/>
                </a:solidFill>
                <a:latin typeface="Georgia"/>
              </a:rPr>
              <a:t>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857500"/>
            <a:ext cx="3098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The new test fails. Good. It proves the test really checks something.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6100" y="1885950"/>
            <a:ext cx="3155950" cy="19050"/>
          </a:xfrm>
          <a:prstGeom prst="rect">
            <a:avLst/>
          </a:prstGeom>
          <a:solidFill>
            <a:srgbClr val="1919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4175" y="1885950"/>
            <a:ext cx="9525" cy="2381250"/>
          </a:xfrm>
          <a:prstGeom prst="rect">
            <a:avLst/>
          </a:prstGeom>
          <a:solidFill>
            <a:srgbClr val="DC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6100" y="2171700"/>
            <a:ext cx="309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91917"/>
                </a:solidFill>
                <a:latin typeface="Georgia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6100" y="2857500"/>
            <a:ext cx="3098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You write the simplest code that makes the test pass.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5900" y="1885950"/>
            <a:ext cx="3155950" cy="19050"/>
          </a:xfrm>
          <a:prstGeom prst="rect">
            <a:avLst/>
          </a:prstGeom>
          <a:solidFill>
            <a:srgbClr val="1919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73975" y="1885950"/>
            <a:ext cx="9525" cy="2381250"/>
          </a:xfrm>
          <a:prstGeom prst="rect">
            <a:avLst/>
          </a:prstGeom>
          <a:solidFill>
            <a:srgbClr val="DC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5900" y="2171700"/>
            <a:ext cx="309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91917"/>
                </a:solidFill>
                <a:latin typeface="Georgia"/>
              </a:rPr>
              <a:t>Refactor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5900" y="2857500"/>
            <a:ext cx="30988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You tidy the code up. The tests tell you if you broke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629150"/>
            <a:ext cx="78104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5750"/>
                </a:solidFill>
                <a:latin typeface="Segoe UI"/>
              </a:rPr>
              <a:t>Then you go around again. Each loop is minutes long, not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4 /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48768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A small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1752600"/>
            <a:ext cx="5010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7"/>
                </a:solidFill>
                <a:latin typeface="Segoe UI"/>
              </a:rPr>
              <a:t>Step 1 — the test, written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76300" y="2038349"/>
            <a:ext cx="5010150" cy="9525"/>
          </a:xfrm>
          <a:prstGeom prst="rect">
            <a:avLst/>
          </a:prstGeom>
          <a:solidFill>
            <a:srgbClr val="DC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2228850"/>
            <a:ext cx="50101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B867C"/>
                </a:solidFill>
                <a:latin typeface="Consolas"/>
              </a:rPr>
              <a:t># a 10% discount on any price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452C"/>
                </a:solidFill>
                <a:latin typeface="Consolas"/>
              </a:rPr>
              <a:t>def </a:t>
            </a:r>
            <a:r>
              <a:rPr sz="1400" b="0" i="0">
                <a:solidFill>
                  <a:srgbClr val="191917"/>
                </a:solidFill>
                <a:latin typeface="Consolas"/>
              </a:rPr>
              <a:t>test_discount():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452C"/>
                </a:solidFill>
                <a:latin typeface="Consolas"/>
              </a:rPr>
              <a:t>    assert </a:t>
            </a:r>
            <a:r>
              <a:rPr sz="1400" b="0" i="0">
                <a:solidFill>
                  <a:srgbClr val="191917"/>
                </a:solidFill>
                <a:latin typeface="Consolas"/>
              </a:rPr>
              <a:t>discount(1000) == 100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452C"/>
                </a:solidFill>
                <a:latin typeface="Consolas"/>
              </a:rPr>
              <a:t>    assert </a:t>
            </a:r>
            <a:r>
              <a:rPr sz="1400" b="0" i="0">
                <a:solidFill>
                  <a:srgbClr val="191917"/>
                </a:solidFill>
                <a:latin typeface="Consolas"/>
              </a:rPr>
              <a:t>discount(0) ==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5550" y="1752600"/>
            <a:ext cx="5010150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7"/>
                </a:solidFill>
                <a:latin typeface="Segoe UI"/>
              </a:rPr>
              <a:t>Step 2 — the code, written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5550" y="2038349"/>
            <a:ext cx="5010150" cy="9525"/>
          </a:xfrm>
          <a:prstGeom prst="rect">
            <a:avLst/>
          </a:prstGeom>
          <a:solidFill>
            <a:srgbClr val="DC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5550" y="2228850"/>
            <a:ext cx="50101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452C"/>
                </a:solidFill>
                <a:latin typeface="Consolas"/>
              </a:rPr>
              <a:t>def </a:t>
            </a:r>
            <a:r>
              <a:rPr sz="1400" b="0" i="0">
                <a:solidFill>
                  <a:srgbClr val="191917"/>
                </a:solidFill>
                <a:latin typeface="Consolas"/>
              </a:rPr>
              <a:t>discount(price):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452C"/>
                </a:solidFill>
                <a:latin typeface="Consolas"/>
              </a:rPr>
              <a:t>    return </a:t>
            </a:r>
            <a:r>
              <a:rPr sz="1400" b="0" i="0">
                <a:solidFill>
                  <a:srgbClr val="191917"/>
                </a:solidFill>
                <a:latin typeface="Consolas"/>
              </a:rPr>
              <a:t>price * 0.10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48099"/>
            <a:ext cx="7239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5750"/>
                </a:solidFill>
                <a:latin typeface="Segoe UI"/>
              </a:rPr>
              <a:t>Run the test before writing discount() and it fails. Write those two lines and it passes. That pass is now permanent: it runs again every time anyone touches this code.</a:t>
            </a:r>
          </a:p>
        </p:txBody>
      </p:sp>
      <p:sp>
        <p:nvSpPr>
          <p:cNvPr id="10" name="Oval 9"/>
          <p:cNvSpPr/>
          <p:nvPr/>
        </p:nvSpPr>
        <p:spPr>
          <a:xfrm>
            <a:off x="942975" y="5162550"/>
            <a:ext cx="381000" cy="381000"/>
          </a:xfrm>
          <a:prstGeom prst="ellipse">
            <a:avLst/>
          </a:prstGeom>
          <a:noFill/>
          <a:ln w="15240">
            <a:solidFill>
              <a:srgbClr val="A845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57275" y="5276850"/>
            <a:ext cx="152400" cy="152400"/>
          </a:xfrm>
          <a:prstGeom prst="line">
            <a:avLst/>
          </a:prstGeom>
          <a:ln w="22859">
            <a:solidFill>
              <a:srgbClr val="A8452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H="1">
            <a:off x="1057275" y="5276850"/>
            <a:ext cx="152400" cy="152400"/>
          </a:xfrm>
          <a:prstGeom prst="line">
            <a:avLst/>
          </a:prstGeom>
          <a:ln w="22859">
            <a:solidFill>
              <a:srgbClr val="A8452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466850" y="5181600"/>
            <a:ext cx="2095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7"/>
                </a:solidFill>
                <a:latin typeface="Segoe UI"/>
              </a:rPr>
              <a:t>The test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542925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the code does not exist yet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2350" y="5353050"/>
            <a:ext cx="323850" cy="0"/>
          </a:xfrm>
          <a:prstGeom prst="line">
            <a:avLst/>
          </a:prstGeom>
          <a:ln w="15240">
            <a:solidFill>
              <a:srgbClr val="8B867C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3829050" y="5305425"/>
            <a:ext cx="76199" cy="47625"/>
          </a:xfrm>
          <a:prstGeom prst="line">
            <a:avLst/>
          </a:prstGeom>
          <a:ln w="15240">
            <a:solidFill>
              <a:srgbClr val="8B867C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3829050" y="5353050"/>
            <a:ext cx="76199" cy="47625"/>
          </a:xfrm>
          <a:prstGeom prst="line">
            <a:avLst/>
          </a:prstGeom>
          <a:ln w="15240">
            <a:solidFill>
              <a:srgbClr val="8B867C"/>
            </a:solidFill>
          </a:ln>
          <a:effectLst/>
        </p:spPr>
      </p:cxnSp>
      <p:sp>
        <p:nvSpPr>
          <p:cNvPr id="18" name="Oval 17"/>
          <p:cNvSpPr/>
          <p:nvPr/>
        </p:nvSpPr>
        <p:spPr>
          <a:xfrm>
            <a:off x="4114800" y="5162550"/>
            <a:ext cx="381000" cy="381000"/>
          </a:xfrm>
          <a:prstGeom prst="ellipse">
            <a:avLst/>
          </a:prstGeom>
          <a:noFill/>
          <a:ln w="15240">
            <a:solidFill>
              <a:srgbClr val="1919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219575" y="5353050"/>
            <a:ext cx="66675" cy="66675"/>
          </a:xfrm>
          <a:prstGeom prst="line">
            <a:avLst/>
          </a:prstGeom>
          <a:ln w="22859">
            <a:solidFill>
              <a:srgbClr val="19191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4286250" y="5276850"/>
            <a:ext cx="123825" cy="142875"/>
          </a:xfrm>
          <a:prstGeom prst="line">
            <a:avLst/>
          </a:prstGeom>
          <a:ln w="22859">
            <a:solidFill>
              <a:srgbClr val="191917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638675" y="5181600"/>
            <a:ext cx="2095499" cy="247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91917"/>
                </a:solidFill>
                <a:latin typeface="Segoe UI"/>
              </a:rPr>
              <a:t>The test passes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8675" y="542925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two lines of code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5 / 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9900"/>
            <a:ext cx="60960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1866899"/>
            <a:ext cx="8953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91917"/>
                </a:solidFill>
                <a:latin typeface="Georgia"/>
              </a:rPr>
              <a:t>A test that has never failed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91917"/>
                </a:solidFill>
                <a:latin typeface="Georgia"/>
              </a:rPr>
              <a:t>is a test you cannot trust.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4305300"/>
            <a:ext cx="628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B5750"/>
                </a:solidFill>
                <a:latin typeface="Segoe UI"/>
              </a:rPr>
              <a:t>If a brand new test passes straight away, either the work was already done, or the test is checking nothing. So you always watch it fail once, on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9900"/>
            <a:ext cx="73152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What you get out of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1924049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1809750"/>
            <a:ext cx="457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Every line of code has 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207645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You only write code to pass a test, so nothing is left untested.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295275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" y="2838450"/>
            <a:ext cx="457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A safety net that keeps 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10515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Every old test runs again, so a new change cannot quietly break old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" y="398145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2050" y="3867150"/>
            <a:ext cx="457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Bugs are easy to 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4133849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A test just broke, and you only changed a few lines. The bug is in those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6300" y="501015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2050" y="4895850"/>
            <a:ext cx="457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The tests explain the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516255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Reading the tests shows exactly what the code is supposed to 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15265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21145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452C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25908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600" y="255270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0" y="255270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452C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02895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29908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0" y="29908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7400" y="29908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452C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5800" y="34671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600" y="342900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4500" y="342900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7400" y="342900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0300" y="342900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452C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3905249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600" y="38671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4500" y="38671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7400" y="38671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0300" y="38671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B867C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3200" y="3867150"/>
            <a:ext cx="323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8452C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4629150"/>
            <a:ext cx="285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67C"/>
                </a:solidFill>
                <a:latin typeface="Segoe UI"/>
              </a:rPr>
              <a:t>Red is the new test. The grey ones are old tests, still running on every step.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7 / 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19900"/>
            <a:ext cx="85344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Where it does not help much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201930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1905000"/>
            <a:ext cx="466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Screens and visual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2190750"/>
            <a:ext cx="4667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Hard to write an automatic test for “does this look right”.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325755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" y="3143250"/>
            <a:ext cx="466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Big, tangled old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429000"/>
            <a:ext cx="4667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You cannot test one small piece on its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2700" y="201930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8450" y="1905000"/>
            <a:ext cx="466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Systems with many things running at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2190750"/>
            <a:ext cx="4667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The same test can pass today and fail tomorrow.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2700" y="325755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8450" y="3143250"/>
            <a:ext cx="466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It only checks what you thought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3429000"/>
            <a:ext cx="46672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5750"/>
                </a:solidFill>
                <a:latin typeface="Segoe UI"/>
              </a:rPr>
              <a:t>So you still need system testing and real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8 /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97536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Testing at the end vs. testing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1962150"/>
            <a:ext cx="4838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1917"/>
                </a:solidFill>
                <a:latin typeface="Segoe UI"/>
              </a:rPr>
              <a:t>Testing at the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76300" y="25050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5850" y="2400300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Code first, tests later, if there is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32289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3124200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Bugs show up in a pile, far from where they were made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76300" y="39528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5850" y="3848099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Hard to say how much of the code is really tested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300" y="46767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850" y="4572000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Changing old code feels risky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075" y="1905000"/>
            <a:ext cx="9525" cy="3390900"/>
          </a:xfrm>
          <a:prstGeom prst="rect">
            <a:avLst/>
          </a:prstGeom>
          <a:solidFill>
            <a:srgbClr val="DCD9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0" y="1962150"/>
            <a:ext cx="4838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452C"/>
                </a:solidFill>
                <a:latin typeface="Segoe UI"/>
              </a:rPr>
              <a:t>Testing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0" y="25050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5550" y="2400300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One test, one small piece of code, over and over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32289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5550" y="3124200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Bugs show up within minutes of being made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39528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5550" y="3848099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Coverage comes for free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0" y="4676775"/>
            <a:ext cx="85725" cy="9525"/>
          </a:xfrm>
          <a:prstGeom prst="rect">
            <a:avLst/>
          </a:prstGeom>
          <a:solidFill>
            <a:srgbClr val="8B8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5550" y="4572000"/>
            <a:ext cx="4724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5750"/>
                </a:solidFill>
                <a:latin typeface="Segoe UI"/>
              </a:rPr>
              <a:t>Changing old code is safe, the tests will shout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9 /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9900"/>
            <a:ext cx="109728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723900"/>
            <a:ext cx="104394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91917"/>
                </a:solidFill>
                <a:latin typeface="Georgia"/>
              </a:rPr>
              <a:t>Remember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1981199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1866899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Test first, code second, in very small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6300" y="278130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2050" y="26670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Red, green, refactor.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6300" y="358140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2050" y="34671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It came from agile methods, and it needs an automatic test tool such as JUnit.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" y="438150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2050" y="42672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It gives coverage, a safety net, easy debugging and living documentation.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300" y="5181600"/>
            <a:ext cx="133350" cy="1905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2050" y="50673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91917"/>
                </a:solidFill>
                <a:latin typeface="Segoe UI"/>
              </a:rPr>
              <a:t>It replaces none of your system testing or user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62674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Test-Driven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0700" y="6267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67C"/>
                </a:solidFill>
                <a:latin typeface="Segoe UI"/>
              </a:rPr>
              <a:t>10 /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A845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Test-Driven Development — Unit 8.2, Software Engineering</dc:title>
  <dc:subject>Software Engineering CSC364, Semester VI</dc:subject>
  <dc:creator/>
  <cp:keywords/>
  <dc:description>Generated from index.html by tools/build_pptx.py. Content follows Sommerville, Software Engineering, 10th edition, chapter 8.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